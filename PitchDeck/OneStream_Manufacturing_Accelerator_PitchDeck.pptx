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73152" cy="9144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DA8DA"/>
                </a:solidFill>
                <a:latin typeface="Calibri"/>
              </a:defRPr>
            </a:pPr>
            <a:r>
              <a:t>OneStream XF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Manufacturing 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DA8DA"/>
                </a:solidFill>
                <a:latin typeface="Calibri"/>
              </a:defRPr>
            </a:pPr>
            <a:r>
              <a:t>Pre-Built Enterprise CPM Solution for Global Manufacturing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8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6080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EC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309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Business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EC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09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EC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Dimensions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OneStream Implementations Are Expensive and Slow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06040" cy="3200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3545"/>
                </a:solidFill>
                <a:latin typeface="Calibri"/>
              </a:defRPr>
            </a:pPr>
            <a:r>
              <a:t>$500K-$1M+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Average Project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Traditional implementations built from scratch for each client drive costs into 7 figures.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011680"/>
            <a:ext cx="2606040" cy="3200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3545"/>
                </a:solidFill>
                <a:latin typeface="Calibri"/>
              </a:defRPr>
            </a:pPr>
            <a:r>
              <a:t>6-12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926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Typical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Custom development, testing, and iteration cycles drag projects well beyond initial estimates.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06040" cy="3200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3545"/>
                </a:solidFill>
                <a:latin typeface="Calibri"/>
              </a:defRPr>
            </a:pPr>
            <a:r>
              <a:t>40% Overrun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Budget &amp; Schedule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Complex consolidation logic, multi-source ETL, and manufacturing-specific calcs introduce scope creep.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79" y="2011680"/>
            <a:ext cx="2606040" cy="32004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2286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3545"/>
                </a:solidFill>
                <a:latin typeface="Calibri"/>
              </a:defRPr>
            </a:pPr>
            <a:r>
              <a:t>Talent Scarcity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9260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Limited OneStream Developers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38328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The OneStream talent pool is small. Finding architects who understand both finance and VB.NET is hard.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698480" cy="3657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D3A"/>
                </a:solidFill>
                <a:latin typeface="Calibri"/>
              </a:defRPr>
            </a:pPr>
            <a:r>
              <a:t>Manufacturing companies need a faster, lower-risk path to OneStream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A Production-Ready Manufacturing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57D"/>
                </a:solidFill>
                <a:latin typeface="Calibri"/>
              </a:defRPr>
            </a:pPr>
            <a:r>
              <a:t>Pre-built, source-controlled OneStream XF implementation covering the full CPM lifecycle for global multi-plant manufacturers.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606040"/>
            <a:ext cx="502920" cy="502920"/>
          </a:xfrm>
          <a:prstGeom prst="round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Financial Consolidation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Multi-currency, multi-GAAP consolidation with IC elimination, equity pickup, and minority interest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606040"/>
            <a:ext cx="50292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Planning &amp; Budgeting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Driver-based planning with BOM rollups, headcount planning, CAPEX depreciation, rolling forecasts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2606040"/>
            <a:ext cx="50292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Data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10 pre-built connectors for SAP, Oracle, NetSuite, Workday, MES systems with full ETL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709160"/>
            <a:ext cx="502920" cy="50292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Reporting &amp;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16 executive dashboards with variance waterfalls, KPI cockpits, and plant performance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48056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4709160"/>
            <a:ext cx="502920" cy="502920"/>
          </a:xfrm>
          <a:prstGeom prst="round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Account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Automated matching engine with risk-based workflows and certification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474720" cy="1920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75320" y="4709160"/>
            <a:ext cx="502920" cy="502920"/>
          </a:xfrm>
          <a:prstGeom prst="round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3A"/>
                </a:solidFill>
                <a:latin typeface="Calibri"/>
              </a:defRPr>
            </a:pPr>
            <a:r>
              <a:t>People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FTE-to-cost modeling: base salary, benefits, burden rates, merit increases, and org restructuring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194 Production-Ready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6EC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VB.NET</a:t>
            </a:r>
            <a:br/>
            <a:r>
              <a:t>Business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F42C1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Dimension</a:t>
            </a:r>
            <a:br/>
            <a:r>
              <a:t>Hierarchies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8A745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Data Mgmt</a:t>
            </a:r>
            <a:br/>
            <a:r>
              <a:t>Pipelines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D7E14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Executive</a:t>
            </a:r>
            <a:br/>
            <a:r>
              <a:t>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3E8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Workflow</a:t>
            </a:r>
            <a:br/>
            <a:r>
              <a:t>Definitions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20624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DA8D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CubeView</a:t>
            </a:r>
            <a:br/>
            <a:r>
              <a:t>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C10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Testing &amp;</a:t>
            </a:r>
            <a:br/>
            <a:r>
              <a:t>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206240"/>
            <a:ext cx="256032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0C99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Calibri"/>
              </a:defRPr>
            </a:pPr>
            <a:r>
              <a:t>Architecture</a:t>
            </a:r>
            <a:br/>
            <a:r>
              <a:t>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BUSINESS RULES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74 Production-Quality VB.NET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733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733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698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54864" cy="5029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Finance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762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EC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762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Consolidation, FX translation, IC elimination, equity pickup, minority interest, goodwill, journal entries, flow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33472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33472"/>
            <a:ext cx="54864" cy="502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06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Calculate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0662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F42C1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0662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COGS allocation, overhead absorption, standard cost variance, OEE, revenue recognition, BOM rollup, driver-based planning, headcount, CAPEX, cash flow, KPIs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63824"/>
            <a:ext cx="10698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163824"/>
            <a:ext cx="54864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369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Connector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369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3697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SAP HANA GL + production + materials, Oracle EBS GL + sub-ledger, NetSuite, Workday HCM, MES, Excel templates, flat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94175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94175"/>
            <a:ext cx="54864" cy="5029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673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Dashboard Adapters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67327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D7E14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767327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Executive summary, plant performance, variance waterfall, P&amp;L bridge, BvA, rolling forecast, IC recon, CAPEX tracker, KPI cockpit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24528"/>
            <a:ext cx="10698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224528"/>
            <a:ext cx="54864" cy="50292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Member Filters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97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A8D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297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Entity security, scenario locking, time period control, product access, cost center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548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54864" cy="50292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Event Handlers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8280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3E8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8280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Data quality validation, submission control, IC matching, budget threshold alerts, audit logging, notifications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285231"/>
            <a:ext cx="10698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285231"/>
            <a:ext cx="54864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5838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Extenders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35838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358383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Batch consolidation, data archival, ETL orchestrator, recon engine, RF seeder, report distribution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815583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5815583"/>
            <a:ext cx="54864" cy="5029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88873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String Functions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888735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0C99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888735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Status icons, variance formatting, KPI thresholds, dynamic multi-language labels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355080"/>
            <a:ext cx="10698480" cy="4114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6382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63825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53,000+ lines of production VB.NET code  |  All using native OneStream API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Enterprise-Grade Dimensional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16459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Finance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C7"/>
                </a:solidFill>
                <a:latin typeface="Calibri"/>
              </a:defRPr>
            </a:pPr>
            <a:r>
              <a:t>12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Consolidation, FX, IC elimination</a:t>
            </a:r>
            <a:br/>
            <a:r>
              <a:t>800+ accounts, 120 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606040" cy="16459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606040" cy="5486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Planning Cube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488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  <a:latin typeface="Calibri"/>
              </a:defRPr>
            </a:pPr>
            <a:r>
              <a:t>10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68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Budget, forecast, driver-based</a:t>
            </a:r>
            <a:br/>
            <a:r>
              <a:t>planning with version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606040" cy="16459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60604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HR Cube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6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People planning, comp modeling</a:t>
            </a:r>
            <a:br/>
            <a:r>
              <a:t>FTE-to-total-cost calculations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606040" cy="164592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45920"/>
            <a:ext cx="2606040" cy="5486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Recon Cube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488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7E14"/>
                </a:solidFill>
                <a:latin typeface="Calibri"/>
              </a:defRPr>
            </a:pPr>
            <a:r>
              <a:t>4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468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Account reconciliation with</a:t>
            </a:r>
            <a:br/>
            <a:r>
              <a:t>automated matching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14 Dimensions Fully Defined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Account  -  800+ members (P&amp;L, BS, CF, Statistical)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Entity  -  120 members (Corp &gt; Region &gt; Country &gt; Plant)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Scenario  -  27 members (Actual, Budget, RF01-12, WhatIf)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65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Time  -  CY2024-2027 (Monthly, Quarterly, Annual)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Flow  -  Opening, Movement, Closing, FX, Elimination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Consolidation  -  Local, Translated, Proportional, Eliminated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08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UD1 Product  -  Industrial / Consumer / Specialty SKUs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UD2 CostCenter  -  Production, Warehouse, Admin, R&amp;D,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UD3 Intercompany  -  Mirrors Entity for IC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18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UD4 Project  -  CAPEX Expansion, Maintenance, Automation, R&amp;D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65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UD5 CustomerSegment  -  OEM, Aftermarket, Govt, Commercial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UD6 Channel  -  Direct, Distributor, OEM, E-Commerce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UD7 Plant  -  Cross-ref for multi-entity plant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108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3A40"/>
                </a:solidFill>
                <a:latin typeface="Calibri"/>
              </a:defRPr>
            </a:pPr>
            <a:r>
              <a:t>UD8 Version  -  Working, Submitted, Approved, Published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Pre-Built Multi-Source ETL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Source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777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SAP S/4HANA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EC7"/>
                </a:solidFill>
                <a:latin typeface="Calibri"/>
              </a:defRPr>
            </a:pPr>
            <a:r>
              <a:t>ODBC/RFC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Calibri"/>
              </a:defRPr>
            </a:pPr>
            <a:r>
              <a:t>GL, Production Orders</a:t>
            </a:r>
            <a:br/>
            <a:r>
              <a:t>Material Master, BOM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2560320" cy="777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Oracle EBS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EC7"/>
                </a:solidFill>
                <a:latin typeface="Calibri"/>
              </a:defRPr>
            </a:pPr>
            <a:r>
              <a:t>DB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Calibri"/>
              </a:defRPr>
            </a:pPr>
            <a:r>
              <a:t>General Ledger</a:t>
            </a:r>
            <a:br/>
            <a:r>
              <a:t>AP/AR Sub-Ledger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2560320" cy="777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NetSuite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EC7"/>
                </a:solidFill>
                <a:latin typeface="Calibri"/>
              </a:defRPr>
            </a:pPr>
            <a:r>
              <a:t>SuiteAnalytics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60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Calibri"/>
              </a:defRPr>
            </a:pPr>
            <a:r>
              <a:t>GL Trial Balance</a:t>
            </a:r>
            <a:br/>
            <a:r>
              <a:t>Revenue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59"/>
            <a:ext cx="2560320" cy="777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Workday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19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EC7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2919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Calibri"/>
              </a:defRPr>
            </a:pPr>
            <a:r>
              <a:t>Headcount, Compensation</a:t>
            </a:r>
            <a:br/>
            <a:r>
              <a:t>Org Hierarchy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2560320" cy="77724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Calibri"/>
              </a:defRPr>
            </a:pPr>
            <a:r>
              <a:t>MES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EC7"/>
                </a:solidFill>
                <a:latin typeface="Calibri"/>
              </a:defRPr>
            </a:pPr>
            <a:r>
              <a:t>SFTP/API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978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Calibri"/>
              </a:defRPr>
            </a:pPr>
            <a:r>
              <a:t>Production Volumes</a:t>
            </a:r>
            <a:br/>
            <a:r>
              <a:t>OEE, Scrap, 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2926080"/>
            <a:ext cx="1828800" cy="1828800"/>
          </a:xfrm>
          <a:prstGeom prst="round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749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EE"/>
                </a:solidFill>
                <a:latin typeface="Calibri"/>
              </a:defRPr>
            </a:pPr>
            <a:r>
              <a:t>10 Connector</a:t>
            </a:r>
            <a:br/>
            <a:r>
              <a:t>Business Rules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69280" y="3611880"/>
            <a:ext cx="274320" cy="457200"/>
          </a:xfrm>
          <a:prstGeom prst="rightArrow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0" y="2926080"/>
            <a:ext cx="1828800" cy="18288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49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EE"/>
                </a:solidFill>
                <a:latin typeface="Calibri"/>
              </a:defRPr>
            </a:pPr>
            <a:r>
              <a:t>8 Staging</a:t>
            </a:r>
            <a:br/>
            <a:r>
              <a:t>Definitions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772400" y="3611880"/>
            <a:ext cx="274320" cy="457200"/>
          </a:xfrm>
          <a:prstGeom prst="rightArrow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46720" y="2926080"/>
            <a:ext cx="1828800" cy="18288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749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EE"/>
                </a:solidFill>
                <a:latin typeface="Calibri"/>
              </a:defRPr>
            </a:pPr>
            <a:r>
              <a:t>8 Mapping &amp;</a:t>
            </a:r>
            <a:br/>
            <a:r>
              <a:t>Validation Rules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75520" y="3611880"/>
            <a:ext cx="274320" cy="457200"/>
          </a:xfrm>
          <a:prstGeom prst="rightArrow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49839" y="2926080"/>
            <a:ext cx="1828800" cy="182880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6999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6999" y="3749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EE"/>
                </a:solidFill>
                <a:latin typeface="Calibri"/>
              </a:defRPr>
            </a:pPr>
            <a:r>
              <a:t>6 Target Cube</a:t>
            </a:r>
            <a:br/>
            <a:r>
              <a:t>Load Sequences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3A40"/>
                </a:solidFill>
                <a:latin typeface="Calibri"/>
              </a:defRPr>
            </a:pPr>
            <a:r>
              <a:t>Full orchestration engine (EX_IntegrationOrchestrator.vb) coordinates multi-source extractions with retry logic, error handling, data quality scoring, and automated alerting.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MANUFACTURING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Built for the Complexity of Global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Standard Cost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4-way decomposition: Price, Usage, Efficiency, Volume. Actual vs standard at every production 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BOM Cost Rollup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Recursive bill-of-materials explosion with memoization. Material + labor + overhead per unit.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OEE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Availability x Performance x Quality. Machine-level and plant-level with drill-down.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WIP 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00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Materials issued + labor applied + overhead applied - completed goods. Real-time WIP 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Capacity Utilization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89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Actual machine hours vs available capacity. Bottleneck identification and shift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Transfer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89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4 OECD methods: CUP, Cost Plus, Resale Price, TNMM. Arm's-length IC pricing engine.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P&amp;L Lever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778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8 levers: Volume, Price, Mix, FX, Input Cost, Labor, Overhead, SGA. Full waterfall decomposition.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12080"/>
            <a:ext cx="54864" cy="10058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Driver-Based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5778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Units x Price x Mix x Seasonal Factors. Revenue through EBITDA with automatic KPI derivation.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Accelerate Time-to-Value by 50%+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572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Traditional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Timeline: 6-12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Cost: $500K - $1M+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9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Team: 3-5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684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Risk: High (custom build from scratch)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07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Rules developed: 0 pre-built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Dimensions: Designed from blank 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85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ETL: Connectors built per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241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Calibri"/>
              </a:defRPr>
            </a:pPr>
            <a:r>
              <a:t>x   Testing: Manual, ad-hoc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029200" cy="4572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0116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With Manufacturing Accelerator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Timeline: 3-5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90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Cost: $250K - $400K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29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Team: 1-2 consultants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684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Risk: Low (proven, tested framework)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07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Rules included: 74 production-ready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Dimensions: 14 pre-built hierarchies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285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ETL: 10 connectors ready to configure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241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Testing: 14 automated validation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DEVOPS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Source-Controlled, CI/CD-Ready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2860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731520" cy="365760"/>
          </a:xfrm>
          <a:prstGeom prst="round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Debug logging, no rate limits</a:t>
            </a:r>
            <a:br/>
            <a:r>
              <a:t>Performance profiling enabled</a:t>
            </a:r>
            <a:br/>
            <a:r>
              <a:t>20 concurrent users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560320"/>
            <a:ext cx="365760" cy="457200"/>
          </a:xfrm>
          <a:prstGeom prst="rightArrow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3474720" cy="22860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3474720" cy="5486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828800"/>
            <a:ext cx="731520" cy="36576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Production-mirror data (masked)</a:t>
            </a:r>
            <a:br/>
            <a:r>
              <a:t>Strict validation, Info logging</a:t>
            </a:r>
            <a:br/>
            <a:r>
              <a:t>50 concurrent users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46720" y="2560320"/>
            <a:ext cx="365760" cy="457200"/>
          </a:xfrm>
          <a:prstGeom prst="rightArrow">
            <a:avLst/>
          </a:prstGeom>
          <a:solidFill>
            <a:srgbClr val="34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3474720" cy="228600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347472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1828800"/>
            <a:ext cx="73152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HA with F5 load balancer</a:t>
            </a:r>
            <a:br/>
            <a:r>
              <a:t>99.9% SLA, MFA required</a:t>
            </a:r>
            <a:br/>
            <a:r>
              <a:t>250 concurrent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PowerShell Deployment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C7"/>
                </a:solidFill>
                <a:latin typeface="Consolas"/>
              </a:defRPr>
            </a:pPr>
            <a:r>
              <a:t>Deploy_BusinessRules.ps1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Uploads, compiles, and activates 74 business rules with rollback 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38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C7"/>
                </a:solidFill>
                <a:latin typeface="Consolas"/>
              </a:defRPr>
            </a:pPr>
            <a:r>
              <a:t>Deploy_Dimensions.ps1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38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Loads dimension hierarchies with backup and delta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144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C7"/>
                </a:solidFill>
                <a:latin typeface="Consolas"/>
              </a:defRPr>
            </a:pPr>
            <a:r>
              <a:t>Deploy_DataManagement.ps1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6144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Deploys ETL sequences in dependency order with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C7"/>
                </a:solidFill>
                <a:latin typeface="Consolas"/>
              </a:defRPr>
            </a:pPr>
            <a:r>
              <a:t>Validate_Deployment.ps1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0899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Post-deployment health checks: compilation, connectivity, data integrity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Quantifiable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0515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20"/>
            <a:ext cx="164592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50-60%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Faster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3-5 months vs 6-12 months. Faster time-to-value means earlier realization of CPM benefits and reduced project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698480" cy="10515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1645920" cy="777240"/>
          </a:xfrm>
          <a:prstGeom prst="round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$250-500K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Reduced consulting hours, smaller team required, fewer custom development cycles. Accelerator pays for itself on the first engagement.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10515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251960"/>
            <a:ext cx="1645920" cy="7772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Code Reusability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74 business rules adapted, not rewritten. Dimension hierarchies customized, not designed from scratch. Proven patterns reduce defects.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40680"/>
            <a:ext cx="1645920" cy="7772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94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Risk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Pre-tested consolidation logic, validated FX translation, proven IC elimination. Eliminates the #1 source of implementation failures.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C7"/>
                </a:solidFill>
                <a:latin typeface="Calibri"/>
              </a:defRPr>
            </a:pPr>
            <a: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3A"/>
                </a:solidFill>
                <a:latin typeface="Calibri"/>
              </a:defRPr>
            </a:pPr>
            <a:r>
              <a:t>Flexible Delivery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754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Accelerator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EC7"/>
                </a:solidFill>
                <a:latin typeface="Calibri"/>
              </a:defRPr>
            </a:pPr>
            <a:r>
              <a:t>$75K - $125K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Full source code repository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74 business rules + all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Documentation &amp; deployment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Self-service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C7"/>
                </a:solidFill>
                <a:latin typeface="Calibri"/>
              </a:defRPr>
            </a:pPr>
            <a:r>
              <a:t>Best for: Firms with in-house OneStream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645920"/>
            <a:ext cx="3474720" cy="4754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645920"/>
            <a:ext cx="3474720" cy="5486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Guided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F42C1"/>
                </a:solidFill>
                <a:latin typeface="Calibri"/>
              </a:defRPr>
            </a:pPr>
            <a:r>
              <a:t>$200K - $350K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Everything in Accelerator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429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Solution architect engagement (8-12 weeks)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Dimension &amp; rule customization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434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Integration configuration &amp;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Best for: Companies with some OneStream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9" y="1645920"/>
            <a:ext cx="3474720" cy="4754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9" y="1645920"/>
            <a:ext cx="347472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Calibri"/>
              </a:defRPr>
            </a:pPr>
            <a:r>
              <a:t>Full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A745"/>
                </a:solidFill>
                <a:latin typeface="Calibri"/>
              </a:defRPr>
            </a:pPr>
            <a:r>
              <a:t>$350K - $600K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Everything in Guided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429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Full project team (architect + 1-2 consultants)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End-to-end delivery: design through go-live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4434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3A40"/>
                </a:solidFill>
                <a:latin typeface="Calibri"/>
              </a:defRPr>
            </a:pPr>
            <a:r>
              <a:t>UAT support &amp; hypercare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Best for: Companies new to OneStream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73152" cy="9144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DA8DA"/>
                </a:solidFill>
                <a:latin typeface="Calibri"/>
              </a:defRPr>
            </a:pPr>
            <a:r>
              <a:t>Ready to Accelerate?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Transform Your</a:t>
            </a:r>
            <a:br/>
            <a:r>
              <a:t>Manufacturing Finance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A8DA"/>
                </a:solidFill>
                <a:latin typeface="Calibri"/>
              </a:defRPr>
            </a:pPr>
            <a:r>
              <a:t>From months of custom development to weeks of guided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754880"/>
            <a:ext cx="2926080" cy="12801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4754880"/>
            <a:ext cx="2926080" cy="457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Schedule 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5303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DB5BD"/>
                </a:solidFill>
                <a:latin typeface="Calibri"/>
              </a:defRPr>
            </a:pPr>
            <a:r>
              <a:t>See the accelerator in action</a:t>
            </a:r>
            <a:br/>
            <a:r>
              <a:t>with your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754880"/>
            <a:ext cx="2926080" cy="12801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4754880"/>
            <a:ext cx="2926080" cy="457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303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DB5BD"/>
                </a:solidFill>
                <a:latin typeface="Calibri"/>
              </a:defRPr>
            </a:pPr>
            <a:r>
              <a:t>Architecture review with</a:t>
            </a:r>
            <a:br/>
            <a:r>
              <a:t>your OneStream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754880"/>
            <a:ext cx="2926080" cy="12801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754880"/>
            <a:ext cx="2926080" cy="4572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03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DB5BD"/>
                </a:solidFill>
                <a:latin typeface="Calibri"/>
              </a:defRPr>
            </a:pPr>
            <a:r>
              <a:t>4-week pilot with your</a:t>
            </a:r>
            <a:br/>
            <a:r>
              <a:t>actual chart of accounts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